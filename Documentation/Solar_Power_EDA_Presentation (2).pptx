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2e65e84-0962-2a25-6099-f6662bf917e8}">
          <p14:sldIdLst>
            <p14:sldId id="256"/>
          </p14:sldIdLst>
        </p14:section>
        <p14:section name="Context" id="{73d74de2-ad4e-988c-39d6-ee2e525d819f}">
          <p14:sldIdLst>
            <p14:sldId id="257"/>
            <p14:sldId id="258"/>
            <p14:sldId id="259"/>
            <p14:sldId id="260"/>
          </p14:sldIdLst>
        </p14:section>
        <p14:section name="Data" id="{f2959bce-3467-4a1f-a533-93d71ce48443}">
          <p14:sldIdLst>
            <p14:sldId id="261"/>
            <p14:sldId id="262"/>
            <p14:sldId id="263"/>
          </p14:sldIdLst>
        </p14:section>
        <p14:section name="Analysis" id="{6e87411d-e9ae-46ed-ff92-512898c7aeb8}">
          <p14:sldIdLst>
            <p14:sldId id="264"/>
            <p14:sldId id="265"/>
          </p14:sldIdLst>
        </p14:section>
        <p14:section name="Wrap-up" id="{13cbf9ec-03b5-c208-e376-35767f648bb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AI-Based Solar Power Performance and Degradation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AI-Based Solar Power Performance and Degradation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"/>
          <p:cNvSpPr/>
          <p:nvPr/>
        </p:nvSpPr>
        <p:spPr>
          <a:xfrm>
            <a:off x="6035040" y="274320"/>
            <a:ext cx="2926080" cy="2926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ring-2"/>
          <p:cNvSpPr/>
          <p:nvPr/>
        </p:nvSpPr>
        <p:spPr>
          <a:xfrm>
            <a:off x="6446520" y="685800"/>
            <a:ext cx="2103120" cy="210312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sun-3"/>
          <p:cNvSpPr/>
          <p:nvPr/>
        </p:nvSpPr>
        <p:spPr>
          <a:xfrm>
            <a:off x="6858000" y="10972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itle-4"/>
          <p:cNvSpPr txBox="1"/>
          <p:nvPr/>
        </p:nvSpPr>
        <p:spPr>
          <a:xfrm>
            <a:off x="640080" y="6400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AI-Based Solar Power Performance and Degradation Intelligence</a:t>
            </a:r>
            <a:endParaRPr lang="en-US" sz="3000" dirty="0"/>
          </a:p>
        </p:txBody>
      </p:sp>
      <p:sp>
        <p:nvSpPr>
          <p:cNvPr id="6" name="text-5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Python Data Analysis Project — EDA Sprint 1</a:t>
            </a:r>
            <a:endParaRPr lang="en-US" sz="1800" dirty="0"/>
          </a:p>
        </p:txBody>
      </p:sp>
      <p:sp>
        <p:nvSpPr>
          <p:cNvPr id="7" name="detail-6"/>
          <p:cNvSpPr txBox="1"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Industry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Renewable Energy — Solar PV Power Generation</a:t>
            </a:r>
            <a:endParaRPr lang="en-US" sz="1400" dirty="0"/>
          </a:p>
        </p:txBody>
      </p:sp>
      <p:sp>
        <p:nvSpPr>
          <p:cNvPr id="8" name="detail-7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Student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SIVA KUMAR S  (ID: AF05320553)</a:t>
            </a:r>
            <a:endParaRPr lang="en-US" sz="1400" dirty="0"/>
          </a:p>
        </p:txBody>
      </p:sp>
      <p:sp>
        <p:nvSpPr>
          <p:cNvPr id="9" name="detail-8"/>
          <p:cNvSpPr txBox="1"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Course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AIML   |   Batch: ANP-D7444M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Industry Overview</a:t>
            </a:r>
            <a:endParaRPr lang="en-US" sz="3400" dirty="0"/>
          </a:p>
        </p:txBody>
      </p:sp>
      <p:sp>
        <p:nvSpPr>
          <p:cNvPr id="3" name="text-9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Renewable Energy — Solar Photovoltaic (PV) Power Generation</a:t>
            </a:r>
            <a:endParaRPr lang="en-US" sz="1800" dirty="0"/>
          </a:p>
        </p:txBody>
      </p:sp>
      <p:sp>
        <p:nvSpPr>
          <p:cNvPr id="4" name="card-10"/>
          <p:cNvSpPr/>
          <p:nvPr/>
        </p:nvSpPr>
        <p:spPr>
          <a:xfrm>
            <a:off x="548640" y="182880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le-11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17420"/>
            <a:ext cx="320040" cy="320040"/>
          </a:xfrm>
          <a:prstGeom prst="rect">
            <a:avLst/>
          </a:prstGeom>
        </p:spPr>
      </p:pic>
      <p:sp>
        <p:nvSpPr>
          <p:cNvPr id="7" name="text-13"/>
          <p:cNvSpPr txBox="1"/>
          <p:nvPr/>
        </p:nvSpPr>
        <p:spPr>
          <a:xfrm>
            <a:off x="777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data</a:t>
            </a:r>
            <a:endParaRPr lang="en-US" sz="1800" dirty="0"/>
          </a:p>
        </p:txBody>
      </p:sp>
      <p:sp>
        <p:nvSpPr>
          <p:cNvPr id="8" name="text-14"/>
          <p:cNvSpPr txBox="1"/>
          <p:nvPr/>
        </p:nvSpPr>
        <p:spPr>
          <a:xfrm>
            <a:off x="7772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PV time-series data: electrical, irradiance, weather and meter readings.</a:t>
            </a:r>
            <a:endParaRPr lang="en-US" sz="1400" dirty="0"/>
          </a:p>
        </p:txBody>
      </p:sp>
      <p:sp>
        <p:nvSpPr>
          <p:cNvPr id="9" name="card-15"/>
          <p:cNvSpPr/>
          <p:nvPr/>
        </p:nvSpPr>
        <p:spPr>
          <a:xfrm>
            <a:off x="3291840" y="182880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16"/>
          <p:cNvSpPr/>
          <p:nvPr/>
        </p:nvSpPr>
        <p:spPr>
          <a:xfrm>
            <a:off x="35204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217420"/>
            <a:ext cx="320040" cy="320040"/>
          </a:xfrm>
          <a:prstGeom prst="rect">
            <a:avLst/>
          </a:prstGeom>
        </p:spPr>
      </p:pic>
      <p:sp>
        <p:nvSpPr>
          <p:cNvPr id="12" name="text-18"/>
          <p:cNvSpPr txBox="1"/>
          <p:nvPr/>
        </p:nvSpPr>
        <p:spPr>
          <a:xfrm>
            <a:off x="35204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3" name="text-19"/>
          <p:cNvSpPr txBox="1"/>
          <p:nvPr/>
        </p:nvSpPr>
        <p:spPr>
          <a:xfrm>
            <a:off x="35204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Shows how power is generated, how good the data is, and how inverters differ.</a:t>
            </a:r>
            <a:endParaRPr lang="en-US" sz="1400" dirty="0"/>
          </a:p>
        </p:txBody>
      </p:sp>
      <p:sp>
        <p:nvSpPr>
          <p:cNvPr id="14" name="card-20"/>
          <p:cNvSpPr/>
          <p:nvPr/>
        </p:nvSpPr>
        <p:spPr>
          <a:xfrm>
            <a:off x="6035040" y="182880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-21"/>
          <p:cNvSpPr/>
          <p:nvPr/>
        </p:nvSpPr>
        <p:spPr>
          <a:xfrm>
            <a:off x="62636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2217420"/>
            <a:ext cx="320040" cy="320040"/>
          </a:xfrm>
          <a:prstGeom prst="rect">
            <a:avLst/>
          </a:prstGeom>
        </p:spPr>
      </p:pic>
      <p:sp>
        <p:nvSpPr>
          <p:cNvPr id="17" name="text-23"/>
          <p:cNvSpPr txBox="1"/>
          <p:nvPr/>
        </p:nvSpPr>
        <p:spPr>
          <a:xfrm>
            <a:off x="62636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comes next</a:t>
            </a:r>
            <a:endParaRPr lang="en-US" sz="1800" dirty="0"/>
          </a:p>
        </p:txBody>
      </p:sp>
      <p:sp>
        <p:nvSpPr>
          <p:cNvPr id="18" name="text-24"/>
          <p:cNvSpPr txBox="1"/>
          <p:nvPr/>
        </p:nvSpPr>
        <p:spPr>
          <a:xfrm>
            <a:off x="6263640" y="32461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This EDA is the base for performance, anomaly and degradation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card-25"/>
          <p:cNvSpPr/>
          <p:nvPr/>
        </p:nvSpPr>
        <p:spPr>
          <a:xfrm>
            <a:off x="548640" y="1280160"/>
            <a:ext cx="3108960" cy="320040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26"/>
          <p:cNvSpPr txBox="1"/>
          <p:nvPr/>
        </p:nvSpPr>
        <p:spPr>
          <a:xfrm>
            <a:off x="82296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5" name="text-27"/>
          <p:cNvSpPr txBox="1"/>
          <p:nvPr/>
        </p:nvSpPr>
        <p:spPr>
          <a:xfrm>
            <a:off x="822960" y="192024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Understand how solar plants generate power — and spot unusual differences between inverters.</a:t>
            </a:r>
            <a:endParaRPr lang="en-US" sz="2000" dirty="0"/>
          </a:p>
        </p:txBody>
      </p:sp>
      <p:sp>
        <p:nvSpPr>
          <p:cNvPr id="6" name="circle-28"/>
          <p:cNvSpPr/>
          <p:nvPr/>
        </p:nvSpPr>
        <p:spPr>
          <a:xfrm>
            <a:off x="402336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3380" y="1531620"/>
            <a:ext cx="320040" cy="320040"/>
          </a:xfrm>
          <a:prstGeom prst="rect">
            <a:avLst/>
          </a:prstGeom>
        </p:spPr>
      </p:pic>
      <p:sp>
        <p:nvSpPr>
          <p:cNvPr id="8" name="text-30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data</a:t>
            </a:r>
            <a:endParaRPr lang="en-US" sz="1800" dirty="0"/>
          </a:p>
        </p:txBody>
      </p:sp>
      <p:sp>
        <p:nvSpPr>
          <p:cNvPr id="9" name="text-31"/>
          <p:cNvSpPr txBox="1"/>
          <p:nvPr/>
        </p:nvSpPr>
        <p:spPr>
          <a:xfrm>
            <a:off x="484632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Inverters, meters, irradiance and weather sensors record readings over time.</a:t>
            </a:r>
            <a:endParaRPr lang="en-US" sz="1400" dirty="0"/>
          </a:p>
        </p:txBody>
      </p:sp>
      <p:sp>
        <p:nvSpPr>
          <p:cNvPr id="10" name="circle-32"/>
          <p:cNvSpPr/>
          <p:nvPr/>
        </p:nvSpPr>
        <p:spPr>
          <a:xfrm>
            <a:off x="4023360" y="2468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2628900"/>
            <a:ext cx="320040" cy="320040"/>
          </a:xfrm>
          <a:prstGeom prst="rect">
            <a:avLst/>
          </a:prstGeom>
        </p:spPr>
      </p:pic>
      <p:sp>
        <p:nvSpPr>
          <p:cNvPr id="12" name="text-34"/>
          <p:cNvSpPr txBox="1"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focus</a:t>
            </a:r>
            <a:endParaRPr lang="en-US" sz="1800" dirty="0"/>
          </a:p>
        </p:txBody>
      </p:sp>
      <p:sp>
        <p:nvSpPr>
          <p:cNvPr id="13" name="text-35"/>
          <p:cNvSpPr txBox="1"/>
          <p:nvPr/>
        </p:nvSpPr>
        <p:spPr>
          <a:xfrm>
            <a:off x="484632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 quality, irradiance vs power, time patterns and inverter differences.</a:t>
            </a:r>
            <a:endParaRPr lang="en-US" sz="1400" dirty="0"/>
          </a:p>
        </p:txBody>
      </p:sp>
      <p:sp>
        <p:nvSpPr>
          <p:cNvPr id="14" name="circle-36"/>
          <p:cNvSpPr/>
          <p:nvPr/>
        </p:nvSpPr>
        <p:spPr>
          <a:xfrm>
            <a:off x="4023360" y="35661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3726180"/>
            <a:ext cx="320040" cy="320040"/>
          </a:xfrm>
          <a:prstGeom prst="rect">
            <a:avLst/>
          </a:prstGeom>
        </p:spPr>
      </p:pic>
      <p:sp>
        <p:nvSpPr>
          <p:cNvPr id="16" name="text-38"/>
          <p:cNvSpPr txBox="1"/>
          <p:nvPr/>
        </p:nvSpPr>
        <p:spPr>
          <a:xfrm>
            <a:off x="48463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limit</a:t>
            </a:r>
            <a:endParaRPr lang="en-US" sz="1800" dirty="0"/>
          </a:p>
        </p:txBody>
      </p:sp>
      <p:sp>
        <p:nvSpPr>
          <p:cNvPr id="17" name="text-39"/>
          <p:cNvSpPr txBox="1"/>
          <p:nvPr/>
        </p:nvSpPr>
        <p:spPr>
          <a:xfrm>
            <a:off x="484632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EDA only flags what to check next. It does not confirm faults or degradation.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card-40"/>
          <p:cNvSpPr/>
          <p:nvPr/>
        </p:nvSpPr>
        <p:spPr>
          <a:xfrm>
            <a:off x="548640" y="1280160"/>
            <a:ext cx="2377440" cy="32004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41"/>
          <p:cNvSpPr txBox="1"/>
          <p:nvPr/>
        </p:nvSpPr>
        <p:spPr>
          <a:xfrm>
            <a:off x="54864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1"/>
                </a:solidFill>
              </a:rPr>
              <a:t>5</a:t>
            </a:r>
            <a:endParaRPr lang="en-US" sz="8800" dirty="0"/>
          </a:p>
        </p:txBody>
      </p:sp>
      <p:sp>
        <p:nvSpPr>
          <p:cNvPr id="5" name="text-42"/>
          <p:cNvSpPr txBox="1"/>
          <p:nvPr/>
        </p:nvSpPr>
        <p:spPr>
          <a:xfrm>
            <a:off x="5486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goals for this EDA</a:t>
            </a:r>
            <a:endParaRPr lang="en-US" sz="1800" dirty="0"/>
          </a:p>
        </p:txBody>
      </p:sp>
      <p:sp>
        <p:nvSpPr>
          <p:cNvPr id="6" name="card-43"/>
          <p:cNvSpPr/>
          <p:nvPr/>
        </p:nvSpPr>
        <p:spPr>
          <a:xfrm>
            <a:off x="3200400" y="1280160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um-44"/>
          <p:cNvSpPr txBox="1"/>
          <p:nvPr/>
        </p:nvSpPr>
        <p:spPr>
          <a:xfrm>
            <a:off x="3310128" y="13533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-45"/>
          <p:cNvSpPr txBox="1"/>
          <p:nvPr/>
        </p:nvSpPr>
        <p:spPr>
          <a:xfrm>
            <a:off x="3886200" y="1280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data quality: completeness, duplicates and timestamps</a:t>
            </a:r>
            <a:endParaRPr lang="en-US" sz="1400" dirty="0"/>
          </a:p>
        </p:txBody>
      </p:sp>
      <p:sp>
        <p:nvSpPr>
          <p:cNvPr id="9" name="card-46"/>
          <p:cNvSpPr/>
          <p:nvPr/>
        </p:nvSpPr>
        <p:spPr>
          <a:xfrm>
            <a:off x="3200400" y="1938528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47"/>
          <p:cNvSpPr txBox="1"/>
          <p:nvPr/>
        </p:nvSpPr>
        <p:spPr>
          <a:xfrm>
            <a:off x="3310128" y="201168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48"/>
          <p:cNvSpPr txBox="1"/>
          <p:nvPr/>
        </p:nvSpPr>
        <p:spPr>
          <a:xfrm>
            <a:off x="3886200" y="19385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how solar power changes over time</a:t>
            </a:r>
            <a:endParaRPr lang="en-US" sz="1400" dirty="0"/>
          </a:p>
        </p:txBody>
      </p:sp>
      <p:sp>
        <p:nvSpPr>
          <p:cNvPr id="12" name="card-49"/>
          <p:cNvSpPr/>
          <p:nvPr/>
        </p:nvSpPr>
        <p:spPr>
          <a:xfrm>
            <a:off x="3200400" y="2596896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-50"/>
          <p:cNvSpPr txBox="1"/>
          <p:nvPr/>
        </p:nvSpPr>
        <p:spPr>
          <a:xfrm>
            <a:off x="3310128" y="26700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-51"/>
          <p:cNvSpPr txBox="1"/>
          <p:nvPr/>
        </p:nvSpPr>
        <p:spPr>
          <a:xfrm>
            <a:off x="3886200" y="25968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irradiance and weather to total power</a:t>
            </a:r>
            <a:endParaRPr lang="en-US" sz="1400" dirty="0"/>
          </a:p>
        </p:txBody>
      </p:sp>
      <p:sp>
        <p:nvSpPr>
          <p:cNvPr id="15" name="card-52"/>
          <p:cNvSpPr/>
          <p:nvPr/>
        </p:nvSpPr>
        <p:spPr>
          <a:xfrm>
            <a:off x="3200400" y="3255264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-53"/>
          <p:cNvSpPr txBox="1"/>
          <p:nvPr/>
        </p:nvSpPr>
        <p:spPr>
          <a:xfrm>
            <a:off x="3310128" y="33284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-54"/>
          <p:cNvSpPr txBox="1"/>
          <p:nvPr/>
        </p:nvSpPr>
        <p:spPr>
          <a:xfrm>
            <a:off x="3886200" y="32552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each inverter under high irradiance</a:t>
            </a:r>
            <a:endParaRPr lang="en-US" sz="1400" dirty="0"/>
          </a:p>
        </p:txBody>
      </p:sp>
      <p:sp>
        <p:nvSpPr>
          <p:cNvPr id="18" name="card-55"/>
          <p:cNvSpPr/>
          <p:nvPr/>
        </p:nvSpPr>
        <p:spPr>
          <a:xfrm>
            <a:off x="3200400" y="3913632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56"/>
          <p:cNvSpPr txBox="1"/>
          <p:nvPr/>
        </p:nvSpPr>
        <p:spPr>
          <a:xfrm>
            <a:off x="3310128" y="39867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-57"/>
          <p:cNvSpPr txBox="1"/>
          <p:nvPr/>
        </p:nvSpPr>
        <p:spPr>
          <a:xfrm>
            <a:off x="3886200" y="39136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items to investigate and prepare for future 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Approach &amp; Key Questions</a:t>
            </a:r>
            <a:endParaRPr lang="en-US" sz="3400" dirty="0"/>
          </a:p>
        </p:txBody>
      </p:sp>
      <p:sp>
        <p:nvSpPr>
          <p:cNvPr id="3" name="card-58"/>
          <p:cNvSpPr/>
          <p:nvPr/>
        </p:nvSpPr>
        <p:spPr>
          <a:xfrm>
            <a:off x="54864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59"/>
          <p:cNvSpPr txBox="1"/>
          <p:nvPr/>
        </p:nvSpPr>
        <p:spPr>
          <a:xfrm>
            <a:off x="82296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How we did it</a:t>
            </a:r>
            <a:endParaRPr lang="en-US" sz="1400" dirty="0"/>
          </a:p>
        </p:txBody>
      </p:sp>
      <p:sp>
        <p:nvSpPr>
          <p:cNvPr id="5" name="text-60"/>
          <p:cNvSpPr txBox="1"/>
          <p:nvPr/>
        </p:nvSpPr>
        <p:spPr>
          <a:xfrm>
            <a:off x="82296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Clean, transform, analyze and visualize PV time-series data.</a:t>
            </a:r>
            <a:endParaRPr lang="en-US" sz="1600" dirty="0"/>
          </a:p>
        </p:txBody>
      </p:sp>
      <p:sp>
        <p:nvSpPr>
          <p:cNvPr id="6" name="chip-61"/>
          <p:cNvSpPr txBox="1"/>
          <p:nvPr/>
        </p:nvSpPr>
        <p:spPr>
          <a:xfrm>
            <a:off x="822960" y="324612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Python</a:t>
            </a:r>
            <a:endParaRPr lang="en-US" sz="1200" dirty="0"/>
          </a:p>
        </p:txBody>
      </p:sp>
      <p:sp>
        <p:nvSpPr>
          <p:cNvPr id="7" name="chip-62"/>
          <p:cNvSpPr txBox="1"/>
          <p:nvPr/>
        </p:nvSpPr>
        <p:spPr>
          <a:xfrm>
            <a:off x="1874520" y="324612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Pandas</a:t>
            </a:r>
            <a:endParaRPr lang="en-US" sz="1200" dirty="0"/>
          </a:p>
        </p:txBody>
      </p:sp>
      <p:sp>
        <p:nvSpPr>
          <p:cNvPr id="8" name="chip-63"/>
          <p:cNvSpPr txBox="1"/>
          <p:nvPr/>
        </p:nvSpPr>
        <p:spPr>
          <a:xfrm>
            <a:off x="822960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NumPy</a:t>
            </a:r>
            <a:endParaRPr lang="en-US" sz="1200" dirty="0"/>
          </a:p>
        </p:txBody>
      </p:sp>
      <p:sp>
        <p:nvSpPr>
          <p:cNvPr id="9" name="chip-64"/>
          <p:cNvSpPr txBox="1"/>
          <p:nvPr/>
        </p:nvSpPr>
        <p:spPr>
          <a:xfrm>
            <a:off x="1874520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10" name="card-65"/>
          <p:cNvSpPr/>
          <p:nvPr/>
        </p:nvSpPr>
        <p:spPr>
          <a:xfrm>
            <a:off x="3520440" y="128016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66"/>
          <p:cNvSpPr txBox="1"/>
          <p:nvPr/>
        </p:nvSpPr>
        <p:spPr>
          <a:xfrm>
            <a:off x="3703320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Q1</a:t>
            </a:r>
            <a:endParaRPr lang="en-US" sz="1200" dirty="0"/>
          </a:p>
        </p:txBody>
      </p:sp>
      <p:sp>
        <p:nvSpPr>
          <p:cNvPr id="12" name="text-67"/>
          <p:cNvSpPr txBox="1"/>
          <p:nvPr/>
        </p:nvSpPr>
        <p:spPr>
          <a:xfrm>
            <a:off x="3703320" y="1627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 the data complete and consistent?</a:t>
            </a:r>
            <a:endParaRPr lang="en-US" sz="1400" dirty="0"/>
          </a:p>
        </p:txBody>
      </p:sp>
      <p:sp>
        <p:nvSpPr>
          <p:cNvPr id="13" name="card-68"/>
          <p:cNvSpPr/>
          <p:nvPr/>
        </p:nvSpPr>
        <p:spPr>
          <a:xfrm>
            <a:off x="6126480" y="128016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69"/>
          <p:cNvSpPr txBox="1"/>
          <p:nvPr/>
        </p:nvSpPr>
        <p:spPr>
          <a:xfrm>
            <a:off x="6309360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Q2</a:t>
            </a:r>
            <a:endParaRPr lang="en-US" sz="1200" dirty="0"/>
          </a:p>
        </p:txBody>
      </p:sp>
      <p:sp>
        <p:nvSpPr>
          <p:cNvPr id="15" name="text-70"/>
          <p:cNvSpPr txBox="1"/>
          <p:nvPr/>
        </p:nvSpPr>
        <p:spPr>
          <a:xfrm>
            <a:off x="6309360" y="1627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does irradiance relate to power?</a:t>
            </a:r>
            <a:endParaRPr lang="en-US" sz="1400" dirty="0"/>
          </a:p>
        </p:txBody>
      </p:sp>
      <p:sp>
        <p:nvSpPr>
          <p:cNvPr id="16" name="card-71"/>
          <p:cNvSpPr/>
          <p:nvPr/>
        </p:nvSpPr>
        <p:spPr>
          <a:xfrm>
            <a:off x="3520440" y="237744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72"/>
          <p:cNvSpPr txBox="1"/>
          <p:nvPr/>
        </p:nvSpPr>
        <p:spPr>
          <a:xfrm>
            <a:off x="3703320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Q3</a:t>
            </a:r>
            <a:endParaRPr lang="en-US" sz="1200" dirty="0"/>
          </a:p>
        </p:txBody>
      </p:sp>
      <p:sp>
        <p:nvSpPr>
          <p:cNvPr id="18" name="text-73"/>
          <p:cNvSpPr txBox="1"/>
          <p:nvPr/>
        </p:nvSpPr>
        <p:spPr>
          <a:xfrm>
            <a:off x="370332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does power vary by hour, day and month?</a:t>
            </a:r>
            <a:endParaRPr lang="en-US" sz="1400" dirty="0"/>
          </a:p>
        </p:txBody>
      </p:sp>
      <p:sp>
        <p:nvSpPr>
          <p:cNvPr id="19" name="card-74"/>
          <p:cNvSpPr/>
          <p:nvPr/>
        </p:nvSpPr>
        <p:spPr>
          <a:xfrm>
            <a:off x="6126480" y="237744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75"/>
          <p:cNvSpPr txBox="1"/>
          <p:nvPr/>
        </p:nvSpPr>
        <p:spPr>
          <a:xfrm>
            <a:off x="6309360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Q4</a:t>
            </a:r>
            <a:endParaRPr lang="en-US" sz="1200" dirty="0"/>
          </a:p>
        </p:txBody>
      </p:sp>
      <p:sp>
        <p:nvSpPr>
          <p:cNvPr id="21" name="text-76"/>
          <p:cNvSpPr txBox="1"/>
          <p:nvPr/>
        </p:nvSpPr>
        <p:spPr>
          <a:xfrm>
            <a:off x="6309360" y="2724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do inverters compare under high irradiance?</a:t>
            </a:r>
            <a:endParaRPr lang="en-US" sz="1400" dirty="0"/>
          </a:p>
        </p:txBody>
      </p:sp>
      <p:sp>
        <p:nvSpPr>
          <p:cNvPr id="22" name="card-77"/>
          <p:cNvSpPr/>
          <p:nvPr/>
        </p:nvSpPr>
        <p:spPr>
          <a:xfrm>
            <a:off x="3520440" y="347472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78"/>
          <p:cNvSpPr txBox="1"/>
          <p:nvPr/>
        </p:nvSpPr>
        <p:spPr>
          <a:xfrm>
            <a:off x="370332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Q5</a:t>
            </a:r>
            <a:endParaRPr lang="en-US" sz="1200" dirty="0"/>
          </a:p>
        </p:txBody>
      </p:sp>
      <p:sp>
        <p:nvSpPr>
          <p:cNvPr id="24" name="text-79"/>
          <p:cNvSpPr txBox="1"/>
          <p:nvPr/>
        </p:nvSpPr>
        <p:spPr>
          <a:xfrm>
            <a:off x="3703320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inverters need a closer look?</a:t>
            </a:r>
            <a:endParaRPr lang="en-US" sz="1400" dirty="0"/>
          </a:p>
        </p:txBody>
      </p:sp>
      <p:sp>
        <p:nvSpPr>
          <p:cNvPr id="25" name="card-80"/>
          <p:cNvSpPr/>
          <p:nvPr/>
        </p:nvSpPr>
        <p:spPr>
          <a:xfrm>
            <a:off x="6126480" y="3474720"/>
            <a:ext cx="24688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81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Q6</a:t>
            </a:r>
            <a:endParaRPr lang="en-US" sz="1200" dirty="0"/>
          </a:p>
        </p:txBody>
      </p:sp>
      <p:sp>
        <p:nvSpPr>
          <p:cNvPr id="27" name="text-82"/>
          <p:cNvSpPr txBox="1"/>
          <p:nvPr/>
        </p:nvSpPr>
        <p:spPr>
          <a:xfrm>
            <a:off x="6309360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does power relate to weather variables?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Information</a:t>
            </a:r>
            <a:endParaRPr lang="en-US" sz="3400" dirty="0"/>
          </a:p>
        </p:txBody>
      </p:sp>
      <p:sp>
        <p:nvSpPr>
          <p:cNvPr id="3" name="card-83"/>
          <p:cNvSpPr/>
          <p:nvPr/>
        </p:nvSpPr>
        <p:spPr>
          <a:xfrm>
            <a:off x="548640" y="128016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84"/>
          <p:cNvSpPr txBox="1"/>
          <p:nvPr/>
        </p:nvSpPr>
        <p:spPr>
          <a:xfrm>
            <a:off x="54864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3,461</a:t>
            </a:r>
            <a:endParaRPr lang="en-US" sz="3200" dirty="0"/>
          </a:p>
        </p:txBody>
      </p:sp>
      <p:sp>
        <p:nvSpPr>
          <p:cNvPr id="5" name="text-85"/>
          <p:cNvSpPr txBox="1"/>
          <p:nvPr/>
        </p:nvSpPr>
        <p:spPr>
          <a:xfrm>
            <a:off x="6400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rows</a:t>
            </a:r>
            <a:endParaRPr lang="en-US" sz="1200" dirty="0"/>
          </a:p>
        </p:txBody>
      </p:sp>
      <p:sp>
        <p:nvSpPr>
          <p:cNvPr id="6" name="card-86"/>
          <p:cNvSpPr/>
          <p:nvPr/>
        </p:nvSpPr>
        <p:spPr>
          <a:xfrm>
            <a:off x="2606040" y="128016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87"/>
          <p:cNvSpPr txBox="1"/>
          <p:nvPr/>
        </p:nvSpPr>
        <p:spPr>
          <a:xfrm>
            <a:off x="260604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36</a:t>
            </a:r>
            <a:endParaRPr lang="en-US" sz="3200" dirty="0"/>
          </a:p>
        </p:txBody>
      </p:sp>
      <p:sp>
        <p:nvSpPr>
          <p:cNvPr id="8" name="text-88"/>
          <p:cNvSpPr txBox="1"/>
          <p:nvPr/>
        </p:nvSpPr>
        <p:spPr>
          <a:xfrm>
            <a:off x="26974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columns (35 original)</a:t>
            </a:r>
            <a:endParaRPr lang="en-US" sz="1200" dirty="0"/>
          </a:p>
        </p:txBody>
      </p:sp>
      <p:sp>
        <p:nvSpPr>
          <p:cNvPr id="9" name="card-89"/>
          <p:cNvSpPr/>
          <p:nvPr/>
        </p:nvSpPr>
        <p:spPr>
          <a:xfrm>
            <a:off x="4663440" y="128016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-90"/>
          <p:cNvSpPr txBox="1"/>
          <p:nvPr/>
        </p:nvSpPr>
        <p:spPr>
          <a:xfrm>
            <a:off x="466344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15 min</a:t>
            </a:r>
            <a:endParaRPr lang="en-US" sz="3200" dirty="0"/>
          </a:p>
        </p:txBody>
      </p:sp>
      <p:sp>
        <p:nvSpPr>
          <p:cNvPr id="11" name="text-91"/>
          <p:cNvSpPr txBox="1"/>
          <p:nvPr/>
        </p:nvSpPr>
        <p:spPr>
          <a:xfrm>
            <a:off x="47548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sampling interval</a:t>
            </a:r>
            <a:endParaRPr lang="en-US" sz="1200" dirty="0"/>
          </a:p>
        </p:txBody>
      </p:sp>
      <p:sp>
        <p:nvSpPr>
          <p:cNvPr id="12" name="card-92"/>
          <p:cNvSpPr/>
          <p:nvPr/>
        </p:nvSpPr>
        <p:spPr>
          <a:xfrm>
            <a:off x="6720840" y="128016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-93"/>
          <p:cNvSpPr txBox="1"/>
          <p:nvPr/>
        </p:nvSpPr>
        <p:spPr>
          <a:xfrm>
            <a:off x="6720840" y="1371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24</a:t>
            </a:r>
            <a:endParaRPr lang="en-US" sz="3200" dirty="0"/>
          </a:p>
        </p:txBody>
      </p:sp>
      <p:sp>
        <p:nvSpPr>
          <p:cNvPr id="14" name="text-94"/>
          <p:cNvSpPr txBox="1"/>
          <p:nvPr/>
        </p:nvSpPr>
        <p:spPr>
          <a:xfrm>
            <a:off x="68122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inverter power columns</a:t>
            </a:r>
            <a:endParaRPr lang="en-US" sz="1200" dirty="0"/>
          </a:p>
        </p:txBody>
      </p:sp>
      <p:sp>
        <p:nvSpPr>
          <p:cNvPr id="15" name="card-95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96"/>
          <p:cNvSpPr txBox="1"/>
          <p:nvPr/>
        </p:nvSpPr>
        <p:spPr>
          <a:xfrm>
            <a:off x="822960" y="2807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Dataset</a:t>
            </a:r>
            <a:endParaRPr lang="en-US" sz="1400" dirty="0"/>
          </a:p>
        </p:txBody>
      </p:sp>
      <p:sp>
        <p:nvSpPr>
          <p:cNvPr id="17" name="text-97"/>
          <p:cNvSpPr txBox="1"/>
          <p:nvPr/>
        </p:nvSpPr>
        <p:spPr>
          <a:xfrm>
            <a:off x="2286000" y="2807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NREL PVDAQ — Photovoltaic Data Acquisition Public Datasets</a:t>
            </a:r>
            <a:endParaRPr lang="en-US" sz="1400" dirty="0"/>
          </a:p>
        </p:txBody>
      </p:sp>
      <p:sp>
        <p:nvSpPr>
          <p:cNvPr id="18" name="text-98"/>
          <p:cNvSpPr txBox="1"/>
          <p:nvPr/>
        </p:nvSpPr>
        <p:spPr>
          <a:xfrm>
            <a:off x="822960" y="3209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Provider</a:t>
            </a:r>
            <a:endParaRPr lang="en-US" sz="1400" dirty="0"/>
          </a:p>
        </p:txBody>
      </p:sp>
      <p:sp>
        <p:nvSpPr>
          <p:cNvPr id="19" name="text-99"/>
          <p:cNvSpPr txBox="1"/>
          <p:nvPr/>
        </p:nvSpPr>
        <p:spPr>
          <a:xfrm>
            <a:off x="2286000" y="32095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National Renewable Energy Laboratory (NREL)</a:t>
            </a:r>
            <a:endParaRPr lang="en-US" sz="1400" dirty="0"/>
          </a:p>
        </p:txBody>
      </p:sp>
      <p:sp>
        <p:nvSpPr>
          <p:cNvPr id="20" name="text-100"/>
          <p:cNvSpPr txBox="1"/>
          <p:nvPr/>
        </p:nvSpPr>
        <p:spPr>
          <a:xfrm>
            <a:off x="82296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System</a:t>
            </a:r>
            <a:endParaRPr lang="en-US" sz="1400" dirty="0"/>
          </a:p>
        </p:txBody>
      </p:sp>
      <p:sp>
        <p:nvSpPr>
          <p:cNvPr id="21" name="text-101"/>
          <p:cNvSpPr txBox="1"/>
          <p:nvPr/>
        </p:nvSpPr>
        <p:spPr>
          <a:xfrm>
            <a:off x="2286000" y="3611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PVDAQ system 2107</a:t>
            </a:r>
            <a:endParaRPr lang="en-US" sz="1400" dirty="0"/>
          </a:p>
        </p:txBody>
      </p:sp>
      <p:sp>
        <p:nvSpPr>
          <p:cNvPr id="22" name="text-102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23" name="text-103"/>
          <p:cNvSpPr txBox="1"/>
          <p:nvPr/>
        </p:nvSpPr>
        <p:spPr>
          <a:xfrm>
            <a:off x="2286000" y="40142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Inverter AC power, POA irradiance, temperature, wind speed and direction, meter output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Collection &amp; Understanding</a:t>
            </a:r>
            <a:endParaRPr lang="en-US" sz="3400" dirty="0"/>
          </a:p>
        </p:txBody>
      </p:sp>
      <p:sp>
        <p:nvSpPr>
          <p:cNvPr id="3" name="card-104"/>
          <p:cNvSpPr/>
          <p:nvPr/>
        </p:nvSpPr>
        <p:spPr>
          <a:xfrm>
            <a:off x="548640" y="1280160"/>
            <a:ext cx="80467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ircle-10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-107"/>
          <p:cNvSpPr txBox="1"/>
          <p:nvPr/>
        </p:nvSpPr>
        <p:spPr>
          <a:xfrm>
            <a:off x="1691640" y="14173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 Feb 2024  →  8 Mar 2024</a:t>
            </a:r>
            <a:endParaRPr lang="en-US" sz="2600" dirty="0"/>
          </a:p>
        </p:txBody>
      </p:sp>
      <p:sp>
        <p:nvSpPr>
          <p:cNvPr id="7" name="text-108"/>
          <p:cNvSpPr txBox="1"/>
          <p:nvPr/>
        </p:nvSpPr>
        <p:spPr>
          <a:xfrm>
            <a:off x="1691640" y="19659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NREL PVDAQ system 2107  ·  3,461 records  ·  35 columns  ·  UTC−08:00</a:t>
            </a:r>
            <a:endParaRPr lang="en-US" sz="1400" dirty="0"/>
          </a:p>
        </p:txBody>
      </p:sp>
      <p:sp>
        <p:nvSpPr>
          <p:cNvPr id="8" name="card-109"/>
          <p:cNvSpPr/>
          <p:nvPr/>
        </p:nvSpPr>
        <p:spPr>
          <a:xfrm>
            <a:off x="548640" y="26974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-110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274320" cy="274320"/>
          </a:xfrm>
          <a:prstGeom prst="rect">
            <a:avLst/>
          </a:prstGeom>
        </p:spPr>
      </p:pic>
      <p:sp>
        <p:nvSpPr>
          <p:cNvPr id="11" name="text-112"/>
          <p:cNvSpPr txBox="1"/>
          <p:nvPr/>
        </p:nvSpPr>
        <p:spPr>
          <a:xfrm>
            <a:off x="14630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duplicates</a:t>
            </a:r>
            <a:endParaRPr lang="en-US" sz="1600" dirty="0"/>
          </a:p>
        </p:txBody>
      </p:sp>
      <p:sp>
        <p:nvSpPr>
          <p:cNvPr id="12" name="text-113"/>
          <p:cNvSpPr txBox="1"/>
          <p:nvPr/>
        </p:nvSpPr>
        <p:spPr>
          <a:xfrm>
            <a:off x="777240" y="3611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 duplicate rows or timestamps were found.</a:t>
            </a:r>
            <a:endParaRPr lang="en-US" sz="1400" dirty="0"/>
          </a:p>
        </p:txBody>
      </p:sp>
      <p:sp>
        <p:nvSpPr>
          <p:cNvPr id="13" name="card-114"/>
          <p:cNvSpPr/>
          <p:nvPr/>
        </p:nvSpPr>
        <p:spPr>
          <a:xfrm>
            <a:off x="3291840" y="26974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-115"/>
          <p:cNvSpPr/>
          <p:nvPr/>
        </p:nvSpPr>
        <p:spPr>
          <a:xfrm>
            <a:off x="3520440" y="2880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017520"/>
            <a:ext cx="274320" cy="274320"/>
          </a:xfrm>
          <a:prstGeom prst="rect">
            <a:avLst/>
          </a:prstGeom>
        </p:spPr>
      </p:pic>
      <p:sp>
        <p:nvSpPr>
          <p:cNvPr id="16" name="text-117"/>
          <p:cNvSpPr txBox="1"/>
          <p:nvPr/>
        </p:nvSpPr>
        <p:spPr>
          <a:xfrm>
            <a:off x="42062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Steady timing</a:t>
            </a:r>
            <a:endParaRPr lang="en-US" sz="1600" dirty="0"/>
          </a:p>
        </p:txBody>
      </p:sp>
      <p:sp>
        <p:nvSpPr>
          <p:cNvPr id="17" name="text-118"/>
          <p:cNvSpPr txBox="1"/>
          <p:nvPr/>
        </p:nvSpPr>
        <p:spPr>
          <a:xfrm>
            <a:off x="3520440" y="3611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 neighbouring timestamps are 15 minutes apart.</a:t>
            </a:r>
            <a:endParaRPr lang="en-US" sz="1400" dirty="0"/>
          </a:p>
        </p:txBody>
      </p:sp>
      <p:sp>
        <p:nvSpPr>
          <p:cNvPr id="18" name="card-119"/>
          <p:cNvSpPr/>
          <p:nvPr/>
        </p:nvSpPr>
        <p:spPr>
          <a:xfrm>
            <a:off x="6035040" y="26974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le-120"/>
          <p:cNvSpPr/>
          <p:nvPr/>
        </p:nvSpPr>
        <p:spPr>
          <a:xfrm>
            <a:off x="6263640" y="2880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017520"/>
            <a:ext cx="274320" cy="274320"/>
          </a:xfrm>
          <a:prstGeom prst="rect">
            <a:avLst/>
          </a:prstGeom>
        </p:spPr>
      </p:pic>
      <p:sp>
        <p:nvSpPr>
          <p:cNvPr id="21" name="text-122"/>
          <p:cNvSpPr txBox="1"/>
          <p:nvPr/>
        </p:nvSpPr>
        <p:spPr>
          <a:xfrm>
            <a:off x="69494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values</a:t>
            </a:r>
            <a:endParaRPr lang="en-US" sz="1600" dirty="0"/>
          </a:p>
        </p:txBody>
      </p:sp>
      <p:sp>
        <p:nvSpPr>
          <p:cNvPr id="22" name="text-123"/>
          <p:cNvSpPr txBox="1"/>
          <p:nvPr/>
        </p:nvSpPr>
        <p:spPr>
          <a:xfrm>
            <a:off x="6263640" y="3611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Checked by variable and timing, not removed blindly.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Cleaning &amp; Transformation</a:t>
            </a:r>
            <a:endParaRPr lang="en-US" sz="3400" dirty="0"/>
          </a:p>
        </p:txBody>
      </p:sp>
      <p:sp>
        <p:nvSpPr>
          <p:cNvPr id="3" name="rail-124"/>
          <p:cNvSpPr/>
          <p:nvPr/>
        </p:nvSpPr>
        <p:spPr>
          <a:xfrm>
            <a:off x="749808" y="1554480"/>
            <a:ext cx="0" cy="27432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um-125"/>
          <p:cNvSpPr txBox="1"/>
          <p:nvPr/>
        </p:nvSpPr>
        <p:spPr>
          <a:xfrm>
            <a:off x="548640" y="13167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26"/>
          <p:cNvSpPr txBox="1"/>
          <p:nvPr/>
        </p:nvSpPr>
        <p:spPr>
          <a:xfrm>
            <a:off x="1234440" y="1280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 the timeline</a:t>
            </a:r>
            <a:endParaRPr lang="en-US" sz="1600" dirty="0"/>
          </a:p>
        </p:txBody>
      </p:sp>
      <p:sp>
        <p:nvSpPr>
          <p:cNvPr id="6" name="text-127"/>
          <p:cNvSpPr txBox="1"/>
          <p:nvPr/>
        </p:nvSpPr>
        <p:spPr>
          <a:xfrm>
            <a:off x="3749040" y="12801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Converted timestamps to datetime and sorted them in time order.</a:t>
            </a:r>
            <a:endParaRPr lang="en-US" sz="1400" dirty="0"/>
          </a:p>
        </p:txBody>
      </p:sp>
      <p:sp>
        <p:nvSpPr>
          <p:cNvPr id="7" name="num-128"/>
          <p:cNvSpPr txBox="1"/>
          <p:nvPr/>
        </p:nvSpPr>
        <p:spPr>
          <a:xfrm>
            <a:off x="548640" y="197510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-129"/>
          <p:cNvSpPr txBox="1"/>
          <p:nvPr/>
        </p:nvSpPr>
        <p:spPr>
          <a:xfrm>
            <a:off x="1234440" y="1938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the gaps</a:t>
            </a:r>
            <a:endParaRPr lang="en-US" sz="1600" dirty="0"/>
          </a:p>
        </p:txBody>
      </p:sp>
      <p:sp>
        <p:nvSpPr>
          <p:cNvPr id="9" name="text-130"/>
          <p:cNvSpPr txBox="1"/>
          <p:nvPr/>
        </p:nvSpPr>
        <p:spPr>
          <a:xfrm>
            <a:off x="3749040" y="193852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Added a time-difference field to confirm steady sampling.</a:t>
            </a:r>
            <a:endParaRPr lang="en-US" sz="1400" dirty="0"/>
          </a:p>
        </p:txBody>
      </p:sp>
      <p:sp>
        <p:nvSpPr>
          <p:cNvPr id="10" name="num-131"/>
          <p:cNvSpPr txBox="1"/>
          <p:nvPr/>
        </p:nvSpPr>
        <p:spPr>
          <a:xfrm>
            <a:off x="548640" y="263347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132"/>
          <p:cNvSpPr txBox="1"/>
          <p:nvPr/>
        </p:nvSpPr>
        <p:spPr>
          <a:xfrm>
            <a:off x="1234440" y="25968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Fill the metadata</a:t>
            </a:r>
            <a:endParaRPr lang="en-US" sz="1600" dirty="0"/>
          </a:p>
        </p:txBody>
      </p:sp>
      <p:sp>
        <p:nvSpPr>
          <p:cNvPr id="12" name="text-133"/>
          <p:cNvSpPr txBox="1"/>
          <p:nvPr/>
        </p:nvSpPr>
        <p:spPr>
          <a:xfrm>
            <a:off x="3749040" y="259689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Rebuilt missing date, hour, month and year from the timestamp.</a:t>
            </a:r>
            <a:endParaRPr lang="en-US" sz="1400" dirty="0"/>
          </a:p>
        </p:txBody>
      </p:sp>
      <p:sp>
        <p:nvSpPr>
          <p:cNvPr id="13" name="num-134"/>
          <p:cNvSpPr txBox="1"/>
          <p:nvPr/>
        </p:nvSpPr>
        <p:spPr>
          <a:xfrm>
            <a:off x="548640" y="32918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-135"/>
          <p:cNvSpPr txBox="1"/>
          <p:nvPr/>
        </p:nvSpPr>
        <p:spPr>
          <a:xfrm>
            <a:off x="1234440" y="32552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quality</a:t>
            </a:r>
            <a:endParaRPr lang="en-US" sz="1600" dirty="0"/>
          </a:p>
        </p:txBody>
      </p:sp>
      <p:sp>
        <p:nvSpPr>
          <p:cNvPr id="15" name="text-136"/>
          <p:cNvSpPr txBox="1"/>
          <p:nvPr/>
        </p:nvSpPr>
        <p:spPr>
          <a:xfrm>
            <a:off x="3749040" y="325526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Looked for duplicates and for negative power, irradiance and meter values.</a:t>
            </a:r>
            <a:endParaRPr lang="en-US" sz="1400" dirty="0"/>
          </a:p>
        </p:txBody>
      </p:sp>
      <p:sp>
        <p:nvSpPr>
          <p:cNvPr id="16" name="num-137"/>
          <p:cNvSpPr txBox="1"/>
          <p:nvPr/>
        </p:nvSpPr>
        <p:spPr>
          <a:xfrm>
            <a:off x="548640" y="39502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-138"/>
          <p:cNvSpPr txBox="1"/>
          <p:nvPr/>
        </p:nvSpPr>
        <p:spPr>
          <a:xfrm>
            <a:off x="1234440" y="3913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 the original</a:t>
            </a:r>
            <a:endParaRPr lang="en-US" sz="1600" dirty="0"/>
          </a:p>
        </p:txBody>
      </p:sp>
      <p:sp>
        <p:nvSpPr>
          <p:cNvPr id="18" name="text-139"/>
          <p:cNvSpPr txBox="1"/>
          <p:nvPr/>
        </p:nvSpPr>
        <p:spPr>
          <a:xfrm>
            <a:off x="3749040" y="391363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Worked on a separate copy. Missing values were not blindly filled.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Exploratory Data Analysis</a:t>
            </a:r>
            <a:endParaRPr lang="en-US" sz="3400" dirty="0"/>
          </a:p>
        </p:txBody>
      </p:sp>
      <p:sp>
        <p:nvSpPr>
          <p:cNvPr id="3" name="card-140"/>
          <p:cNvSpPr/>
          <p:nvPr/>
        </p:nvSpPr>
        <p:spPr>
          <a:xfrm>
            <a:off x="548640" y="1280160"/>
            <a:ext cx="1737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41"/>
          <p:cNvSpPr txBox="1"/>
          <p:nvPr/>
        </p:nvSpPr>
        <p:spPr>
          <a:xfrm>
            <a:off x="64008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99.92%</a:t>
            </a:r>
            <a:endParaRPr lang="en-US" sz="2200" dirty="0"/>
          </a:p>
        </p:txBody>
      </p:sp>
      <p:sp>
        <p:nvSpPr>
          <p:cNvPr id="5" name="text-142"/>
          <p:cNvSpPr txBox="1"/>
          <p:nvPr/>
        </p:nvSpPr>
        <p:spPr>
          <a:xfrm>
            <a:off x="68580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Data complete, with 0 duplicate rows or timestamps</a:t>
            </a:r>
            <a:endParaRPr lang="en-US" sz="1100" dirty="0"/>
          </a:p>
        </p:txBody>
      </p:sp>
      <p:sp>
        <p:nvSpPr>
          <p:cNvPr id="6" name="card-143"/>
          <p:cNvSpPr/>
          <p:nvPr/>
        </p:nvSpPr>
        <p:spPr>
          <a:xfrm>
            <a:off x="2423160" y="1280160"/>
            <a:ext cx="1737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44"/>
          <p:cNvSpPr txBox="1"/>
          <p:nvPr/>
        </p:nvSpPr>
        <p:spPr>
          <a:xfrm>
            <a:off x="251460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53.25%</a:t>
            </a:r>
            <a:endParaRPr lang="en-US" sz="2200" dirty="0"/>
          </a:p>
        </p:txBody>
      </p:sp>
      <p:sp>
        <p:nvSpPr>
          <p:cNvPr id="8" name="text-145"/>
          <p:cNvSpPr txBox="1"/>
          <p:nvPr/>
        </p:nvSpPr>
        <p:spPr>
          <a:xfrm>
            <a:off x="256032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Zero-power rows (1,843); 46.75% positive (1,618)</a:t>
            </a:r>
            <a:endParaRPr lang="en-US" sz="1100" dirty="0"/>
          </a:p>
        </p:txBody>
      </p:sp>
      <p:sp>
        <p:nvSpPr>
          <p:cNvPr id="9" name="card-146"/>
          <p:cNvSpPr/>
          <p:nvPr/>
        </p:nvSpPr>
        <p:spPr>
          <a:xfrm>
            <a:off x="548640" y="2926080"/>
            <a:ext cx="173736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-147"/>
          <p:cNvSpPr txBox="1"/>
          <p:nvPr/>
        </p:nvSpPr>
        <p:spPr>
          <a:xfrm>
            <a:off x="64008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 = 0.9933</a:t>
            </a:r>
            <a:endParaRPr lang="en-US" sz="2200" dirty="0"/>
          </a:p>
        </p:txBody>
      </p:sp>
      <p:sp>
        <p:nvSpPr>
          <p:cNvPr id="11" name="text-148"/>
          <p:cNvSpPr txBox="1"/>
          <p:nvPr/>
        </p:nvSpPr>
        <p:spPr>
          <a:xfrm>
            <a:off x="685800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POA vs total power (Spearman 0.9955)</a:t>
            </a:r>
            <a:endParaRPr lang="en-US" sz="1100" dirty="0"/>
          </a:p>
        </p:txBody>
      </p:sp>
      <p:sp>
        <p:nvSpPr>
          <p:cNvPr id="12" name="card-149"/>
          <p:cNvSpPr/>
          <p:nvPr/>
        </p:nvSpPr>
        <p:spPr>
          <a:xfrm>
            <a:off x="2423160" y="2926080"/>
            <a:ext cx="173736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-150"/>
          <p:cNvSpPr txBox="1"/>
          <p:nvPr/>
        </p:nvSpPr>
        <p:spPr>
          <a:xfrm>
            <a:off x="251460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 = 0.9975</a:t>
            </a:r>
            <a:endParaRPr lang="en-US" sz="2200" dirty="0"/>
          </a:p>
        </p:txBody>
      </p:sp>
      <p:sp>
        <p:nvSpPr>
          <p:cNvPr id="14" name="text-151"/>
          <p:cNvSpPr txBox="1"/>
          <p:nvPr/>
        </p:nvSpPr>
        <p:spPr>
          <a:xfrm>
            <a:off x="2560320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Daily POA vs average power</a:t>
            </a:r>
            <a:endParaRPr lang="en-US" sz="1100" dirty="0"/>
          </a:p>
        </p:txBody>
      </p:sp>
      <p:sp>
        <p:nvSpPr>
          <p:cNvPr id="15" name="card-152"/>
          <p:cNvSpPr/>
          <p:nvPr/>
        </p:nvSpPr>
        <p:spPr>
          <a:xfrm>
            <a:off x="4434840" y="1280160"/>
            <a:ext cx="416052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chart-153" descr="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3977640" cy="2002536"/>
          </a:xfrm>
          <a:prstGeom prst="rect">
            <a:avLst/>
          </a:prstGeom>
        </p:spPr>
      </p:pic>
      <p:sp>
        <p:nvSpPr>
          <p:cNvPr id="17" name="text-154"/>
          <p:cNvSpPr txBox="1"/>
          <p:nvPr/>
        </p:nvSpPr>
        <p:spPr>
          <a:xfrm>
            <a:off x="4526280" y="33832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Average power by hour of day</a:t>
            </a:r>
            <a:endParaRPr lang="en-US" sz="1100" dirty="0"/>
          </a:p>
        </p:txBody>
      </p:sp>
      <p:sp>
        <p:nvSpPr>
          <p:cNvPr id="18" name="card-155"/>
          <p:cNvSpPr/>
          <p:nvPr/>
        </p:nvSpPr>
        <p:spPr>
          <a:xfrm>
            <a:off x="4434840" y="3794760"/>
            <a:ext cx="41605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156"/>
          <p:cNvSpPr txBox="1"/>
          <p:nvPr/>
        </p:nvSpPr>
        <p:spPr>
          <a:xfrm>
            <a:off x="461772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Irradiance is the strongest recorded link to power.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Visualization</a:t>
            </a:r>
            <a:endParaRPr lang="en-US" sz="3400" dirty="0"/>
          </a:p>
        </p:txBody>
      </p:sp>
      <p:sp>
        <p:nvSpPr>
          <p:cNvPr id="3" name="text-157"/>
          <p:cNvSpPr txBox="1"/>
          <p:nvPr/>
        </p:nvSpPr>
        <p:spPr>
          <a:xfrm>
            <a:off x="5486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Inverters vs fleet average</a:t>
            </a:r>
            <a:endParaRPr lang="en-US" sz="1800" dirty="0"/>
          </a:p>
        </p:txBody>
      </p:sp>
      <p:sp>
        <p:nvSpPr>
          <p:cNvPr id="4" name="card-158"/>
          <p:cNvSpPr/>
          <p:nvPr/>
        </p:nvSpPr>
        <p:spPr>
          <a:xfrm>
            <a:off x="548640" y="1645920"/>
            <a:ext cx="3931920" cy="2265861"/>
          </a:xfrm>
          <a:prstGeom prst="roundRect">
            <a:avLst>
              <a:gd name="adj" fmla="val 40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chart-159" descr="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749040" cy="1986099"/>
          </a:xfrm>
          <a:prstGeom prst="rect">
            <a:avLst/>
          </a:prstGeom>
        </p:spPr>
      </p:pic>
      <p:sp>
        <p:nvSpPr>
          <p:cNvPr id="6" name="text-160"/>
          <p:cNvSpPr txBox="1"/>
          <p:nvPr/>
        </p:nvSpPr>
        <p:spPr>
          <a:xfrm>
            <a:off x="548640" y="409466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Selected inverter deviations under POA ≥ 200 highlight below-fleet candidates.</a:t>
            </a:r>
            <a:endParaRPr lang="en-US" sz="1400" dirty="0"/>
          </a:p>
        </p:txBody>
      </p:sp>
      <p:sp>
        <p:nvSpPr>
          <p:cNvPr id="7" name="text-161"/>
          <p:cNvSpPr txBox="1"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drives total power?</a:t>
            </a:r>
            <a:endParaRPr lang="en-US" sz="1800" dirty="0"/>
          </a:p>
        </p:txBody>
      </p:sp>
      <p:sp>
        <p:nvSpPr>
          <p:cNvPr id="8" name="card-162"/>
          <p:cNvSpPr/>
          <p:nvPr/>
        </p:nvSpPr>
        <p:spPr>
          <a:xfrm>
            <a:off x="4663440" y="1645920"/>
            <a:ext cx="3931920" cy="2280251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chart-163" descr="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749040" cy="1999819"/>
          </a:xfrm>
          <a:prstGeom prst="rect">
            <a:avLst/>
          </a:prstGeom>
        </p:spPr>
      </p:pic>
      <p:sp>
        <p:nvSpPr>
          <p:cNvPr id="10" name="text-164"/>
          <p:cNvSpPr txBox="1"/>
          <p:nvPr/>
        </p:nvSpPr>
        <p:spPr>
          <a:xfrm>
            <a:off x="4663440" y="4109051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Irradiance shows the strongest recorded linear relationship with total power.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Insights &amp; Recommendations</a:t>
            </a:r>
            <a:endParaRPr lang="en-US" sz="3400" dirty="0"/>
          </a:p>
        </p:txBody>
      </p:sp>
      <p:sp>
        <p:nvSpPr>
          <p:cNvPr id="3" name="card-165"/>
          <p:cNvSpPr/>
          <p:nvPr/>
        </p:nvSpPr>
        <p:spPr>
          <a:xfrm>
            <a:off x="548640" y="1234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166"/>
          <p:cNvSpPr txBox="1"/>
          <p:nvPr/>
        </p:nvSpPr>
        <p:spPr>
          <a:xfrm>
            <a:off x="7772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INV-16</a:t>
            </a:r>
            <a:endParaRPr lang="en-US" sz="1400" dirty="0"/>
          </a:p>
        </p:txBody>
      </p:sp>
      <p:sp>
        <p:nvSpPr>
          <p:cNvPr id="5" name="text-167"/>
          <p:cNvSpPr txBox="1"/>
          <p:nvPr/>
        </p:nvSpPr>
        <p:spPr>
          <a:xfrm>
            <a:off x="77724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52.26%</a:t>
            </a:r>
            <a:endParaRPr lang="en-US" sz="3600" dirty="0"/>
          </a:p>
        </p:txBody>
      </p:sp>
      <p:sp>
        <p:nvSpPr>
          <p:cNvPr id="6" name="text-168"/>
          <p:cNvSpPr txBox="1"/>
          <p:nvPr/>
        </p:nvSpPr>
        <p:spPr>
          <a:xfrm>
            <a:off x="7772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below fleet average</a:t>
            </a:r>
            <a:endParaRPr lang="en-US" sz="1200" dirty="0"/>
          </a:p>
        </p:txBody>
      </p:sp>
      <p:sp>
        <p:nvSpPr>
          <p:cNvPr id="7" name="card-169"/>
          <p:cNvSpPr/>
          <p:nvPr/>
        </p:nvSpPr>
        <p:spPr>
          <a:xfrm>
            <a:off x="3291840" y="1234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-170"/>
          <p:cNvSpPr txBox="1"/>
          <p:nvPr/>
        </p:nvSpPr>
        <p:spPr>
          <a:xfrm>
            <a:off x="35204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INV-10</a:t>
            </a:r>
            <a:endParaRPr lang="en-US" sz="1400" dirty="0"/>
          </a:p>
        </p:txBody>
      </p:sp>
      <p:sp>
        <p:nvSpPr>
          <p:cNvPr id="9" name="text-171"/>
          <p:cNvSpPr txBox="1"/>
          <p:nvPr/>
        </p:nvSpPr>
        <p:spPr>
          <a:xfrm>
            <a:off x="352044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18.60%</a:t>
            </a:r>
            <a:endParaRPr lang="en-US" sz="3600" dirty="0"/>
          </a:p>
        </p:txBody>
      </p:sp>
      <p:sp>
        <p:nvSpPr>
          <p:cNvPr id="10" name="text-172"/>
          <p:cNvSpPr txBox="1"/>
          <p:nvPr/>
        </p:nvSpPr>
        <p:spPr>
          <a:xfrm>
            <a:off x="35204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below fleet average</a:t>
            </a:r>
            <a:endParaRPr lang="en-US" sz="1200" dirty="0"/>
          </a:p>
        </p:txBody>
      </p:sp>
      <p:sp>
        <p:nvSpPr>
          <p:cNvPr id="11" name="card-173"/>
          <p:cNvSpPr/>
          <p:nvPr/>
        </p:nvSpPr>
        <p:spPr>
          <a:xfrm>
            <a:off x="6035040" y="12344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-174"/>
          <p:cNvSpPr txBox="1"/>
          <p:nvPr/>
        </p:nvSpPr>
        <p:spPr>
          <a:xfrm>
            <a:off x="62636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INV-08</a:t>
            </a:r>
            <a:endParaRPr lang="en-US" sz="1400" dirty="0"/>
          </a:p>
        </p:txBody>
      </p:sp>
      <p:sp>
        <p:nvSpPr>
          <p:cNvPr id="13" name="text-175"/>
          <p:cNvSpPr txBox="1"/>
          <p:nvPr/>
        </p:nvSpPr>
        <p:spPr>
          <a:xfrm>
            <a:off x="626364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7.67%</a:t>
            </a:r>
            <a:endParaRPr lang="en-US" sz="3600" dirty="0"/>
          </a:p>
        </p:txBody>
      </p:sp>
      <p:sp>
        <p:nvSpPr>
          <p:cNvPr id="14" name="text-176"/>
          <p:cNvSpPr txBox="1"/>
          <p:nvPr/>
        </p:nvSpPr>
        <p:spPr>
          <a:xfrm>
            <a:off x="62636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below fleet average</a:t>
            </a:r>
            <a:endParaRPr lang="en-US" sz="1200" dirty="0"/>
          </a:p>
        </p:txBody>
      </p:sp>
      <p:sp>
        <p:nvSpPr>
          <p:cNvPr id="15" name="text-177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INV-16 also had 263 zero-power readings among 856 high-irradiance rows (30.72%).</a:t>
            </a:r>
            <a:endParaRPr lang="en-US" sz="1400" dirty="0"/>
          </a:p>
        </p:txBody>
      </p:sp>
      <p:sp>
        <p:nvSpPr>
          <p:cNvPr id="16" name="text-178"/>
          <p:cNvSpPr txBox="1"/>
          <p:nvPr/>
        </p:nvSpPr>
        <p:spPr>
          <a:xfrm>
            <a:off x="5486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7" name="card-179"/>
          <p:cNvSpPr/>
          <p:nvPr/>
        </p:nvSpPr>
        <p:spPr>
          <a:xfrm>
            <a:off x="548640" y="356616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le-180"/>
          <p:cNvSpPr/>
          <p:nvPr/>
        </p:nvSpPr>
        <p:spPr>
          <a:xfrm>
            <a:off x="685800" y="3840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1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31920"/>
            <a:ext cx="182880" cy="182880"/>
          </a:xfrm>
          <a:prstGeom prst="rect">
            <a:avLst/>
          </a:prstGeom>
        </p:spPr>
      </p:pic>
      <p:sp>
        <p:nvSpPr>
          <p:cNvPr id="20" name="text-182"/>
          <p:cNvSpPr txBox="1"/>
          <p:nvPr/>
        </p:nvSpPr>
        <p:spPr>
          <a:xfrm>
            <a:off x="1188720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these inverters using equipment and operating data.</a:t>
            </a:r>
            <a:endParaRPr lang="en-US" sz="1400" dirty="0"/>
          </a:p>
        </p:txBody>
      </p:sp>
      <p:sp>
        <p:nvSpPr>
          <p:cNvPr id="21" name="card-183"/>
          <p:cNvSpPr/>
          <p:nvPr/>
        </p:nvSpPr>
        <p:spPr>
          <a:xfrm>
            <a:off x="3291840" y="356616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ircle-184"/>
          <p:cNvSpPr/>
          <p:nvPr/>
        </p:nvSpPr>
        <p:spPr>
          <a:xfrm>
            <a:off x="3429000" y="3840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1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931920"/>
            <a:ext cx="182880" cy="182880"/>
          </a:xfrm>
          <a:prstGeom prst="rect">
            <a:avLst/>
          </a:prstGeom>
        </p:spPr>
      </p:pic>
      <p:sp>
        <p:nvSpPr>
          <p:cNvPr id="24" name="text-186"/>
          <p:cNvSpPr txBox="1"/>
          <p:nvPr/>
        </p:nvSpPr>
        <p:spPr>
          <a:xfrm>
            <a:off x="3931920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longer-term PV data before judging degradation.</a:t>
            </a:r>
            <a:endParaRPr lang="en-US" sz="1400" dirty="0"/>
          </a:p>
        </p:txBody>
      </p:sp>
      <p:sp>
        <p:nvSpPr>
          <p:cNvPr id="25" name="card-187"/>
          <p:cNvSpPr/>
          <p:nvPr/>
        </p:nvSpPr>
        <p:spPr>
          <a:xfrm>
            <a:off x="6035040" y="356616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ircle-188"/>
          <p:cNvSpPr/>
          <p:nvPr/>
        </p:nvSpPr>
        <p:spPr>
          <a:xfrm>
            <a:off x="6172200" y="38404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-1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931920"/>
            <a:ext cx="182880" cy="182880"/>
          </a:xfrm>
          <a:prstGeom prst="rect">
            <a:avLst/>
          </a:prstGeom>
        </p:spPr>
      </p:pic>
      <p:sp>
        <p:nvSpPr>
          <p:cNvPr id="28" name="text-190"/>
          <p:cNvSpPr txBox="1"/>
          <p:nvPr/>
        </p:nvSpPr>
        <p:spPr>
          <a:xfrm>
            <a:off x="6675120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comparing inverters under similar irradiance.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&amp; Future Scope</a:t>
            </a:r>
            <a:endParaRPr lang="en-US" sz="3400" dirty="0"/>
          </a:p>
        </p:txBody>
      </p:sp>
      <p:sp>
        <p:nvSpPr>
          <p:cNvPr id="3" name="circle-191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-1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451610"/>
            <a:ext cx="251460" cy="251460"/>
          </a:xfrm>
          <a:prstGeom prst="rect">
            <a:avLst/>
          </a:prstGeom>
        </p:spPr>
      </p:pic>
      <p:sp>
        <p:nvSpPr>
          <p:cNvPr id="5" name="text-193"/>
          <p:cNvSpPr txBox="1"/>
          <p:nvPr/>
        </p:nvSpPr>
        <p:spPr>
          <a:xfrm>
            <a:off x="1280160" y="1280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clear baseline for data quality, generation patterns and inverter differences.</a:t>
            </a:r>
            <a:endParaRPr lang="en-US" sz="1400" dirty="0"/>
          </a:p>
        </p:txBody>
      </p:sp>
      <p:sp>
        <p:nvSpPr>
          <p:cNvPr id="6" name="circle-19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1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8" name="text-196"/>
          <p:cNvSpPr txBox="1"/>
          <p:nvPr/>
        </p:nvSpPr>
        <p:spPr>
          <a:xfrm>
            <a:off x="128016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Irradiance and total power are strongly linked (Pearson r = 0.9933).</a:t>
            </a:r>
            <a:endParaRPr lang="en-US" sz="1400" dirty="0"/>
          </a:p>
        </p:txBody>
      </p:sp>
      <p:sp>
        <p:nvSpPr>
          <p:cNvPr id="9" name="circle-19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097530"/>
            <a:ext cx="251460" cy="251460"/>
          </a:xfrm>
          <a:prstGeom prst="rect">
            <a:avLst/>
          </a:prstGeom>
        </p:spPr>
      </p:pic>
      <p:sp>
        <p:nvSpPr>
          <p:cNvPr id="11" name="text-199"/>
          <p:cNvSpPr txBox="1"/>
          <p:nvPr/>
        </p:nvSpPr>
        <p:spPr>
          <a:xfrm>
            <a:off x="1280160" y="2926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INV-16, INV-10 and INV-08 need a closer look under high irradiance.</a:t>
            </a:r>
            <a:endParaRPr lang="en-US" sz="1400" dirty="0"/>
          </a:p>
        </p:txBody>
      </p:sp>
      <p:sp>
        <p:nvSpPr>
          <p:cNvPr id="12" name="circle-200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20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920490"/>
            <a:ext cx="251460" cy="251460"/>
          </a:xfrm>
          <a:prstGeom prst="rect">
            <a:avLst/>
          </a:prstGeom>
        </p:spPr>
      </p:pic>
      <p:sp>
        <p:nvSpPr>
          <p:cNvPr id="14" name="text-202"/>
          <p:cNvSpPr txBox="1"/>
          <p:nvPr/>
        </p:nvSpPr>
        <p:spPr>
          <a:xfrm>
            <a:off x="1280160" y="3749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period is short, so long-term degradation cannot be confirmed.</a:t>
            </a:r>
            <a:endParaRPr lang="en-US" sz="1400" dirty="0"/>
          </a:p>
        </p:txBody>
      </p:sp>
      <p:sp>
        <p:nvSpPr>
          <p:cNvPr id="15" name="card-203"/>
          <p:cNvSpPr/>
          <p:nvPr/>
        </p:nvSpPr>
        <p:spPr>
          <a:xfrm>
            <a:off x="5669280" y="1280160"/>
            <a:ext cx="2926080" cy="3200400"/>
          </a:xfrm>
          <a:prstGeom prst="roundRect">
            <a:avLst>
              <a:gd name="adj" fmla="val 312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ircle-204"/>
          <p:cNvSpPr/>
          <p:nvPr/>
        </p:nvSpPr>
        <p:spPr>
          <a:xfrm>
            <a:off x="5943600" y="15544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icon-20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691640"/>
            <a:ext cx="274320" cy="274320"/>
          </a:xfrm>
          <a:prstGeom prst="rect">
            <a:avLst/>
          </a:prstGeom>
        </p:spPr>
      </p:pic>
      <p:sp>
        <p:nvSpPr>
          <p:cNvPr id="18" name="text-206"/>
          <p:cNvSpPr txBox="1"/>
          <p:nvPr/>
        </p:nvSpPr>
        <p:spPr>
          <a:xfrm>
            <a:off x="59436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9" name="text-207"/>
          <p:cNvSpPr txBox="1"/>
          <p:nvPr/>
        </p:nvSpPr>
        <p:spPr>
          <a:xfrm>
            <a:off x="594360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Longer-term performance analysis</a:t>
            </a:r>
            <a:endParaRPr lang="en-US" sz="1400" dirty="0"/>
          </a:p>
        </p:txBody>
      </p:sp>
      <p:sp>
        <p:nvSpPr>
          <p:cNvPr id="20" name="text-208"/>
          <p:cNvSpPr txBox="1"/>
          <p:nvPr/>
        </p:nvSpPr>
        <p:spPr>
          <a:xfrm>
            <a:off x="5943600" y="33101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Validated anomaly detection</a:t>
            </a:r>
            <a:endParaRPr lang="en-US" sz="1400" dirty="0"/>
          </a:p>
        </p:txBody>
      </p:sp>
      <p:sp>
        <p:nvSpPr>
          <p:cNvPr id="21" name="text-209"/>
          <p:cNvSpPr txBox="1"/>
          <p:nvPr/>
        </p:nvSpPr>
        <p:spPr>
          <a:xfrm>
            <a:off x="5943600" y="38770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Machine-learning development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 Intelligence">
  <a:themeElements>
    <a:clrScheme name="Solar Intelligence">
      <a:dk1>
        <a:srgbClr val="0B1F33"/>
      </a:dk1>
      <a:lt1>
        <a:srgbClr val="FFFFFF"/>
      </a:lt1>
      <a:dk2>
        <a:srgbClr val="14395B"/>
      </a:dk2>
      <a:lt2>
        <a:srgbClr val="EEF3F8"/>
      </a:lt2>
      <a:accent1>
        <a:srgbClr val="F5A623"/>
      </a:accent1>
      <a:accent2>
        <a:srgbClr val="1C7293"/>
      </a:accent2>
      <a:accent3>
        <a:srgbClr val="D9482B"/>
      </a:accent3>
      <a:accent4>
        <a:srgbClr val="5B6B7C"/>
      </a:accent4>
      <a:accent5>
        <a:srgbClr val="FFD98A"/>
      </a:accent5>
      <a:accent6>
        <a:srgbClr val="CFE0EE"/>
      </a:accent6>
      <a:hlink>
        <a:srgbClr val="1C7293"/>
      </a:hlink>
      <a:folHlink>
        <a:srgbClr val="5B6B7C"/>
      </a:folHlink>
    </a:clrScheme>
    <a:fontScheme name="Solar 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Solar Power Performance and Degradation Intelligence</dc:title>
  <dc:subject>PptxGenJS Presentation</dc:subject>
  <dc:creator>Siva Kumar S</dc:creator>
  <cp:lastModifiedBy>Siva Kumar S</cp:lastModifiedBy>
  <cp:revision>1</cp:revision>
  <dcterms:created xsi:type="dcterms:W3CDTF">2026-10-06T10:59:27Z</dcterms:created>
  <dcterms:modified xsi:type="dcterms:W3CDTF">2026-10-06T10:59:27Z</dcterms:modified>
</cp:coreProperties>
</file>